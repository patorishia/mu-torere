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1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455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obje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C0BB-DC71-4713-A787-95011EDB8CA8}" type="datetimeFigureOut">
              <a:rPr lang="pt-PT" smtClean="0"/>
              <a:t>13/04/2026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16595-07AD-4646-803E-1CCE41789BE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7485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41148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029200" y="640080"/>
            <a:ext cx="4114800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0292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2578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4864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7150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9436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1722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008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6294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8580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0866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3152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5438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7724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0010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2296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4582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6868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89154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5029200" y="1280160"/>
            <a:ext cx="41148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029200" y="1920240"/>
            <a:ext cx="4114800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029200" y="2560320"/>
            <a:ext cx="41148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0292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2578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4864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7150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9436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1722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4008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6294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8580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70866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73152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75438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77724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80010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82296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4582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6868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89154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5029200" y="3200400"/>
            <a:ext cx="4114800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5029200" y="3840480"/>
            <a:ext cx="41148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5029200" y="4480560"/>
            <a:ext cx="4114800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50292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52578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4864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7150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9436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61722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64008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66294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68580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70866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3152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438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77724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80010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82296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84582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86868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89154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457200" y="1463040"/>
            <a:ext cx="4297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Estruturação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Aplicação</a:t>
            </a:r>
            <a:endParaRPr lang="en-US" sz="4000" dirty="0"/>
          </a:p>
        </p:txBody>
      </p:sp>
      <p:sp>
        <p:nvSpPr>
          <p:cNvPr id="65" name="Text 63"/>
          <p:cNvSpPr/>
          <p:nvPr/>
        </p:nvSpPr>
        <p:spPr>
          <a:xfrm>
            <a:off x="457200" y="32004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 Mu Torere em Rede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457200" y="37490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Ldp · André Freitas · 33782</a:t>
            </a:r>
            <a:endParaRPr lang="en-US" sz="1300" dirty="0"/>
          </a:p>
        </p:txBody>
      </p:sp>
      <p:pic>
        <p:nvPicPr>
          <p:cNvPr id="6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56048"/>
            <a:ext cx="9144000" cy="1645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 da Estrutura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aplicação está organizada em 5 pacotes com responsabilidades claramente separadas (SRP). Comunicação via TCP/IP com arquitectura cliente-servidor.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1572768" cy="3108960"/>
          </a:xfrm>
          <a:prstGeom prst="rect">
            <a:avLst/>
          </a:prstGeom>
          <a:solidFill>
            <a:srgbClr val="EEEEEE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457200" y="1463040"/>
            <a:ext cx="1572768" cy="164592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1755648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237744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278892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do jogo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121408" y="1463040"/>
            <a:ext cx="1572768" cy="3108960"/>
          </a:xfrm>
          <a:prstGeom prst="rect">
            <a:avLst/>
          </a:prstGeom>
          <a:solidFill>
            <a:srgbClr val="EEEEEE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7"/>
          <p:cNvSpPr/>
          <p:nvPr/>
        </p:nvSpPr>
        <p:spPr>
          <a:xfrm>
            <a:off x="2121408" y="1463040"/>
            <a:ext cx="1572768" cy="16459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472" y="1755648"/>
            <a:ext cx="548640" cy="5486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121408" y="237744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2121408" y="278892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serializável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3785616" y="1463040"/>
            <a:ext cx="1572768" cy="3108960"/>
          </a:xfrm>
          <a:prstGeom prst="rect">
            <a:avLst/>
          </a:prstGeom>
          <a:solidFill>
            <a:srgbClr val="EEEEEE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1"/>
          <p:cNvSpPr/>
          <p:nvPr/>
        </p:nvSpPr>
        <p:spPr>
          <a:xfrm>
            <a:off x="3785616" y="1463040"/>
            <a:ext cx="1572768" cy="16459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1755648"/>
            <a:ext cx="548640" cy="5486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785616" y="237744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3785616" y="278892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TCP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449824" y="1463040"/>
            <a:ext cx="1572768" cy="3108960"/>
          </a:xfrm>
          <a:prstGeom prst="rect">
            <a:avLst/>
          </a:prstGeom>
          <a:solidFill>
            <a:srgbClr val="EEEEEE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5"/>
          <p:cNvSpPr/>
          <p:nvPr/>
        </p:nvSpPr>
        <p:spPr>
          <a:xfrm>
            <a:off x="5449824" y="1463040"/>
            <a:ext cx="1572768" cy="164592"/>
          </a:xfrm>
          <a:prstGeom prst="rect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1888" y="1755648"/>
            <a:ext cx="548640" cy="54864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49824" y="237744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449824" y="278892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Gravação em ficheiro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7114032" y="1463040"/>
            <a:ext cx="1572768" cy="3108960"/>
          </a:xfrm>
          <a:prstGeom prst="rect">
            <a:avLst/>
          </a:prstGeom>
          <a:solidFill>
            <a:srgbClr val="EEEEEE"/>
          </a:solidFill>
          <a:ln w="12700">
            <a:solidFill>
              <a:srgbClr val="D0D0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19"/>
          <p:cNvSpPr/>
          <p:nvPr/>
        </p:nvSpPr>
        <p:spPr>
          <a:xfrm>
            <a:off x="7114032" y="1463040"/>
            <a:ext cx="1572768" cy="164592"/>
          </a:xfrm>
          <a:prstGeom prst="rect">
            <a:avLst/>
          </a:prstGeom>
          <a:solidFill>
            <a:srgbClr val="212F3D"/>
          </a:solidFill>
          <a:ln w="12700">
            <a:solidFill>
              <a:srgbClr val="212F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6096" y="1755648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114032" y="2377440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114032" y="2788920"/>
            <a:ext cx="15727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gráfica</a:t>
            </a:r>
            <a:endParaRPr lang="en-US" sz="1000" dirty="0"/>
          </a:p>
        </p:txBody>
      </p:sp>
      <p:sp>
        <p:nvSpPr>
          <p:cNvPr id="30" name="Text 2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 SRP — cada pacote tem uma única responsabilidade bem definida.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457200" y="489204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F8C8D"/>
                </a:solidFill>
              </a:rPr>
              <a:t>Estruturação da Aplicação · Mu Torere</a:t>
            </a:r>
            <a:endParaRPr lang="en-US" sz="800" dirty="0"/>
          </a:p>
        </p:txBody>
      </p:sp>
      <p:sp>
        <p:nvSpPr>
          <p:cNvPr id="32" name="Text 24"/>
          <p:cNvSpPr/>
          <p:nvPr/>
        </p:nvSpPr>
        <p:spPr>
          <a:xfrm>
            <a:off x="850392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F8C8D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645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64592"/>
            <a:ext cx="109728" cy="4974336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2560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domínio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320040" y="80467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da aplicação — lógica do jogo independente de rede ou interface.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20040" y="1261872"/>
            <a:ext cx="4206240" cy="749808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320040" y="1261872"/>
            <a:ext cx="73152" cy="749808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457200" y="12984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15361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 o fluxo da partida. Valida e executa movimentos, verifica a vitória e produz snapshots.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0040" y="2130552"/>
            <a:ext cx="4206240" cy="749808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320040" y="2130552"/>
            <a:ext cx="73152" cy="749808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457200" y="21671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TABULEIRO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24048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Topologia fixa — adjacências entre casas imutáveis configuradas no construtor.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0040" y="2999232"/>
            <a:ext cx="4206240" cy="749808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20040" y="2999232"/>
            <a:ext cx="73152" cy="749808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457200" y="30358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57200" y="32735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 cada posição do tabuleiro (8 kewai periféricas + 1 putahi central).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20040" y="3867912"/>
            <a:ext cx="4206240" cy="749808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320040" y="3867912"/>
            <a:ext cx="73152" cy="749808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457200" y="39044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41422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 o movimento — calcula as casas válidas aplicando regras de adjacência e putahi.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754880" y="1261872"/>
            <a:ext cx="4206240" cy="749808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4754880" y="1261872"/>
            <a:ext cx="73152" cy="749808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/>
          <p:nvPr/>
        </p:nvSpPr>
        <p:spPr>
          <a:xfrm>
            <a:off x="4892040" y="12984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JOGADOR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892040" y="15361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 cada participante e as suas peças na partida.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754880" y="2130552"/>
            <a:ext cx="4206240" cy="749808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4754880" y="2130552"/>
            <a:ext cx="73152" cy="749808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4892040" y="21671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ESTADO_DE_JOGO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892040" y="24048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com os estados possíveis da partida (A_DECORRER, VITORIA, etc.).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754880" y="2999232"/>
            <a:ext cx="4206240" cy="749808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4754880" y="2999232"/>
            <a:ext cx="73152" cy="749808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4892040" y="30358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GAMEDEFINITIONS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892040" y="32735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Constantes e utilitários — centraliza valores fixos para evitar magic numbers.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57200" y="489204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F8C8D"/>
                </a:solidFill>
              </a:rPr>
              <a:t>Estruturação da Aplicação · Mu Torere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50392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F8C8D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645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64592"/>
            <a:ext cx="109728" cy="4974336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2560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estado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320040" y="80467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que representam o estado serializável — usadas para envio em rede e persistência.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20040" y="1325880"/>
            <a:ext cx="2651760" cy="3383280"/>
          </a:xfrm>
          <a:prstGeom prst="rect">
            <a:avLst/>
          </a:prstGeom>
          <a:solidFill>
            <a:srgbClr val="F4F6F7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320040" y="1325880"/>
            <a:ext cx="2651760" cy="20116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600200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004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GAMESTATE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29768" y="2651760"/>
            <a:ext cx="2432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completo e imutável da partida.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29768" y="3090672"/>
            <a:ext cx="243230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 Serializable → enviado via ObjectOutputStream e gravado em ficheiro. É o único objecto que circula pela rede.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200400" y="1325880"/>
            <a:ext cx="2651760" cy="3383280"/>
          </a:xfrm>
          <a:prstGeom prst="rect">
            <a:avLst/>
          </a:prstGeom>
          <a:solidFill>
            <a:srgbClr val="F4F6F7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9"/>
          <p:cNvSpPr/>
          <p:nvPr/>
        </p:nvSpPr>
        <p:spPr>
          <a:xfrm>
            <a:off x="3200400" y="1325880"/>
            <a:ext cx="2651760" cy="20116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60020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20040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310128" y="2651760"/>
            <a:ext cx="2432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 todos os parâmetros configuráveis.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3310128" y="3090672"/>
            <a:ext cx="243230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Carregada no arranque e guardada ao fechar a aplicação. Contém preferências do utilizador.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080760" y="1325880"/>
            <a:ext cx="2651760" cy="3383280"/>
          </a:xfrm>
          <a:prstGeom prst="rect">
            <a:avLst/>
          </a:prstGeom>
          <a:solidFill>
            <a:srgbClr val="F4F6F7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4"/>
          <p:cNvSpPr/>
          <p:nvPr/>
        </p:nvSpPr>
        <p:spPr>
          <a:xfrm>
            <a:off x="6080760" y="1325880"/>
            <a:ext cx="2651760" cy="20116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1600200"/>
            <a:ext cx="548640" cy="5486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08076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JOGADA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6190488" y="2651760"/>
            <a:ext cx="2432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imutável de um único movimento.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6190488" y="3090672"/>
            <a:ext cx="243230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Compõe o histórico dentro do GameState. Identifica a peça movida e a casa destino.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89204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F8C8D"/>
                </a:solidFill>
              </a:rPr>
              <a:t>Estruturação da Aplicação · Mu Torere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850392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F8C8D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645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64592"/>
            <a:ext cx="109728" cy="4974336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2560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rede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320040" y="80467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 a comunicação TCP entre as duas instâncias. Arquitectura cliente-servidor com ObjectOutputStream.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20040" y="1261872"/>
            <a:ext cx="4206240" cy="1051560"/>
          </a:xfrm>
          <a:prstGeom prst="rect">
            <a:avLst/>
          </a:prstGeom>
          <a:solidFill>
            <a:srgbClr val="F2F4F4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" y="1517904"/>
            <a:ext cx="502920" cy="502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13533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GAMESERVER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051560" y="16459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numa máquina. Aceita ligações, recebe jogadas e difunde o novo GameState a todos os clientes.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320040" y="2450592"/>
            <a:ext cx="4206240" cy="1051560"/>
          </a:xfrm>
          <a:prstGeom prst="rect">
            <a:avLst/>
          </a:prstGeom>
          <a:solidFill>
            <a:srgbClr val="F2F4F4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" y="2706624"/>
            <a:ext cx="502920" cy="5029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25420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GAMECLIENT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51560" y="283464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Instanciado em cada máquina. Liga-se ao servidor, envia jogadas e recebe actualizações via NetworkListener.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320040" y="3639312"/>
            <a:ext cx="4206240" cy="1051560"/>
          </a:xfrm>
          <a:prstGeom prst="rect">
            <a:avLst/>
          </a:prstGeom>
          <a:solidFill>
            <a:srgbClr val="F2F4F4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3895344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51560" y="3730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NETWORKMESSAGE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1051560" y="40233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Serializable que encapsula qualquer mensagem. O campo payload transporta o objecto concreto.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4754880" y="1261872"/>
            <a:ext cx="4206240" cy="1051560"/>
          </a:xfrm>
          <a:prstGeom prst="rect">
            <a:avLst/>
          </a:prstGeom>
          <a:solidFill>
            <a:srgbClr val="F2F4F4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4608" y="1517904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486400" y="13533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NETWORKLISTENER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5486400" y="164592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implementada pelo GameController (GUI) para receber notificações assíncronas do GameClient.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4754880" y="2450592"/>
            <a:ext cx="4206240" cy="1051560"/>
          </a:xfrm>
          <a:prstGeom prst="rect">
            <a:avLst/>
          </a:prstGeom>
          <a:solidFill>
            <a:srgbClr val="F2F4F4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4608" y="2706624"/>
            <a:ext cx="502920" cy="50292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486400" y="25420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CONECTIONMANAGER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5486400" y="283464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 o ciclo de vida TCP — tentativas de ligação, reconexões automáticas e timeouts.</a:t>
            </a:r>
            <a:endParaRPr lang="en-US" sz="900" dirty="0"/>
          </a:p>
        </p:txBody>
      </p:sp>
      <p:sp>
        <p:nvSpPr>
          <p:cNvPr id="26" name="Shape 18"/>
          <p:cNvSpPr/>
          <p:nvPr/>
        </p:nvSpPr>
        <p:spPr>
          <a:xfrm>
            <a:off x="4754880" y="3639312"/>
            <a:ext cx="4206240" cy="1051560"/>
          </a:xfrm>
          <a:prstGeom prst="rect">
            <a:avLst/>
          </a:prstGeom>
          <a:solidFill>
            <a:srgbClr val="F2F4F4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4608" y="3895344"/>
            <a:ext cx="502920" cy="5029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5486400" y="3730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TIPOMENSAGEM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486400" y="40233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dos tipos de mensagem possíveis: JOGADA, GAMESTATE, etc.</a:t>
            </a:r>
            <a:endParaRPr lang="en-US" sz="900" dirty="0"/>
          </a:p>
        </p:txBody>
      </p:sp>
      <p:sp>
        <p:nvSpPr>
          <p:cNvPr id="30" name="Text 21"/>
          <p:cNvSpPr/>
          <p:nvPr/>
        </p:nvSpPr>
        <p:spPr>
          <a:xfrm>
            <a:off x="457200" y="489204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F8C8D"/>
                </a:solidFill>
              </a:rPr>
              <a:t>Estruturação da Aplicação · Mu Torere</a:t>
            </a:r>
            <a:endParaRPr lang="en-US" sz="800" dirty="0"/>
          </a:p>
        </p:txBody>
      </p:sp>
      <p:sp>
        <p:nvSpPr>
          <p:cNvPr id="31" name="Text 22"/>
          <p:cNvSpPr/>
          <p:nvPr/>
        </p:nvSpPr>
        <p:spPr>
          <a:xfrm>
            <a:off x="850392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F8C8D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645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64592"/>
            <a:ext cx="109728" cy="4974336"/>
          </a:xfrm>
          <a:prstGeom prst="rect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25603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Pacote persistência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320040" y="804672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por gravar e carregar o estado completo da aplicação num ficheiro local.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20040" y="1325880"/>
            <a:ext cx="3977640" cy="3429000"/>
          </a:xfrm>
          <a:prstGeom prst="rect">
            <a:avLst/>
          </a:prstGeom>
          <a:solidFill>
            <a:srgbClr val="F4F6F7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320040" y="1325880"/>
            <a:ext cx="3977640" cy="201168"/>
          </a:xfrm>
          <a:prstGeom prst="rect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" y="1581912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1581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FILEMANAGER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457200" y="2194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Abstrai toda a lógica de I/O.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2706624"/>
            <a:ext cx="91440" cy="9144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8"/>
          <p:cNvSpPr/>
          <p:nvPr/>
        </p:nvSpPr>
        <p:spPr>
          <a:xfrm>
            <a:off x="612648" y="261518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Suporta dois formatos: Java binário (.ser) e JSON (.json)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3209544"/>
            <a:ext cx="91440" cy="9144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0"/>
          <p:cNvSpPr/>
          <p:nvPr/>
        </p:nvSpPr>
        <p:spPr>
          <a:xfrm>
            <a:off x="612648" y="311810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configurável via FormatoFicheiro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3712464"/>
            <a:ext cx="91440" cy="9144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2"/>
          <p:cNvSpPr/>
          <p:nvPr/>
        </p:nvSpPr>
        <p:spPr>
          <a:xfrm>
            <a:off x="612648" y="362102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 e carrega tabuleiro, jogador actual e configurações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0" y="1325880"/>
            <a:ext cx="3977640" cy="3429000"/>
          </a:xfrm>
          <a:prstGeom prst="rect">
            <a:avLst/>
          </a:prstGeom>
          <a:solidFill>
            <a:srgbClr val="F4F6F7"/>
          </a:solidFill>
          <a:ln w="12700">
            <a:solidFill>
              <a:srgbClr val="D5D8D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4"/>
          <p:cNvSpPr/>
          <p:nvPr/>
        </p:nvSpPr>
        <p:spPr>
          <a:xfrm>
            <a:off x="4572000" y="1325880"/>
            <a:ext cx="3977640" cy="201168"/>
          </a:xfrm>
          <a:prstGeom prst="rect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1581912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303520" y="1581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FORMATOFICHEIRO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709160" y="2194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dos formatos de ficheiro suportados.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09160" y="2706624"/>
            <a:ext cx="91440" cy="9144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18"/>
          <p:cNvSpPr/>
          <p:nvPr/>
        </p:nvSpPr>
        <p:spPr>
          <a:xfrm>
            <a:off x="4864608" y="261518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 — serialização Java nativa (.ser)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709160" y="3209544"/>
            <a:ext cx="91440" cy="9144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0"/>
          <p:cNvSpPr/>
          <p:nvPr/>
        </p:nvSpPr>
        <p:spPr>
          <a:xfrm>
            <a:off x="4864608" y="311810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— formato textual legível (.json)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709160" y="3712464"/>
            <a:ext cx="91440" cy="91440"/>
          </a:xfrm>
          <a:prstGeom prst="ellipse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2"/>
          <p:cNvSpPr/>
          <p:nvPr/>
        </p:nvSpPr>
        <p:spPr>
          <a:xfrm>
            <a:off x="4864608" y="362102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Configurável pelo utilizador na aplicação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57200" y="489204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F8C8D"/>
                </a:solidFill>
              </a:rPr>
              <a:t>Estruturação da Aplicação · Mu Torere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850392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F8C8D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Cliente-Servidor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80467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máquinas comunicam via TCP/IP. O GameServer corre numa delas; ambas executam o GameClient.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926080" cy="2560320"/>
          </a:xfrm>
          <a:prstGeom prst="rect">
            <a:avLst/>
          </a:prstGeom>
          <a:solidFill>
            <a:srgbClr val="EAF2FF"/>
          </a:solidFill>
          <a:ln w="254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45720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1 (Servidor)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2560320" cy="45720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GameServer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423160"/>
            <a:ext cx="2560320" cy="457200"/>
          </a:xfrm>
          <a:prstGeom prst="rect">
            <a:avLst/>
          </a:prstGeom>
          <a:solidFill>
            <a:srgbClr val="85C1E9"/>
          </a:solidFill>
          <a:ln w="12700">
            <a:solidFill>
              <a:srgbClr val="85C1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640080" y="2423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GameClient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017520"/>
            <a:ext cx="2560320" cy="457200"/>
          </a:xfrm>
          <a:prstGeom prst="rect">
            <a:avLst/>
          </a:prstGeom>
          <a:solidFill>
            <a:srgbClr val="D4E6F1"/>
          </a:solidFill>
          <a:ln w="12700">
            <a:solidFill>
              <a:srgbClr val="D4E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64008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(Jogador 1)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401568" y="2194560"/>
            <a:ext cx="234086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3401568" y="187452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NetworkMessage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401568" y="2212848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TCP/IP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760720" y="1371600"/>
            <a:ext cx="2926080" cy="2560320"/>
          </a:xfrm>
          <a:prstGeom prst="rect">
            <a:avLst/>
          </a:prstGeom>
          <a:solidFill>
            <a:srgbClr val="EAF2FF"/>
          </a:solidFill>
          <a:ln w="254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576072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2 (Cliente)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943600" y="2423160"/>
            <a:ext cx="2560320" cy="457200"/>
          </a:xfrm>
          <a:prstGeom prst="rect">
            <a:avLst/>
          </a:prstGeom>
          <a:solidFill>
            <a:srgbClr val="85C1E9"/>
          </a:solidFill>
          <a:ln w="12700">
            <a:solidFill>
              <a:srgbClr val="85C1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5943600" y="2423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GameClient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943600" y="3017520"/>
            <a:ext cx="2560320" cy="457200"/>
          </a:xfrm>
          <a:prstGeom prst="rect">
            <a:avLst/>
          </a:prstGeom>
          <a:solidFill>
            <a:srgbClr val="D4E6F1"/>
          </a:solidFill>
          <a:ln w="12700">
            <a:solidFill>
              <a:srgbClr val="D4E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5943600" y="3017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(Jogador 2)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ConectionManager gere reconexões automáticas e timeouts.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57200" y="489204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F8C8D"/>
                </a:solidFill>
              </a:rPr>
              <a:t>Estruturação da Aplicação · Mu Torere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50392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F8C8D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Pacotes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80467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de alto nível das dependências entre pacotes. Setas tracejadas = dependências de uso.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474720" y="1188720"/>
            <a:ext cx="2194560" cy="640080"/>
          </a:xfrm>
          <a:prstGeom prst="rect">
            <a:avLst/>
          </a:prstGeom>
          <a:solidFill>
            <a:srgbClr val="F4F6F7"/>
          </a:solidFill>
          <a:ln w="254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3474720" y="1188720"/>
            <a:ext cx="2194560" cy="1828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3474720" y="1389888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141423" y="1623060"/>
            <a:ext cx="2194560" cy="640080"/>
          </a:xfrm>
          <a:prstGeom prst="rect">
            <a:avLst/>
          </a:prstGeom>
          <a:solidFill>
            <a:srgbClr val="F4F6F7"/>
          </a:solidFill>
          <a:ln w="254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1141423" y="1623060"/>
            <a:ext cx="2194560" cy="182880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1141423" y="1824228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08376"/>
            <a:ext cx="2011680" cy="640080"/>
          </a:xfrm>
          <a:prstGeom prst="rect">
            <a:avLst/>
          </a:prstGeom>
          <a:solidFill>
            <a:srgbClr val="F4F6F7"/>
          </a:solidFill>
          <a:ln w="254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457200" y="3008376"/>
            <a:ext cx="2011680" cy="18288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457200" y="3104388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0" y="2286000"/>
            <a:ext cx="2011680" cy="640080"/>
          </a:xfrm>
          <a:prstGeom prst="rect">
            <a:avLst/>
          </a:prstGeom>
          <a:solidFill>
            <a:srgbClr val="F4F6F7"/>
          </a:solidFill>
          <a:ln w="254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5486400" y="2286000"/>
            <a:ext cx="2011680" cy="18288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5486400" y="2487168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474720" y="3200400"/>
            <a:ext cx="2194560" cy="640080"/>
          </a:xfrm>
          <a:prstGeom prst="rect">
            <a:avLst/>
          </a:prstGeom>
          <a:solidFill>
            <a:srgbClr val="F4F6F7"/>
          </a:solidFill>
          <a:ln w="254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3474720" y="3200400"/>
            <a:ext cx="2194560" cy="182880"/>
          </a:xfrm>
          <a:prstGeom prst="rect">
            <a:avLst/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3474720" y="3401568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0" y="1828800"/>
            <a:ext cx="0" cy="1435608"/>
          </a:xfrm>
          <a:prstGeom prst="line">
            <a:avLst/>
          </a:prstGeom>
          <a:noFill/>
          <a:ln w="19050">
            <a:solidFill>
              <a:srgbClr val="999999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 flipH="1">
            <a:off x="2478025" y="2276856"/>
            <a:ext cx="370278" cy="1019556"/>
          </a:xfrm>
          <a:prstGeom prst="line">
            <a:avLst/>
          </a:prstGeom>
          <a:noFill/>
          <a:ln w="19050">
            <a:solidFill>
              <a:srgbClr val="999999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2848303" y="2263140"/>
            <a:ext cx="1732841" cy="937260"/>
          </a:xfrm>
          <a:prstGeom prst="line">
            <a:avLst/>
          </a:prstGeom>
          <a:noFill/>
          <a:ln w="19050">
            <a:solidFill>
              <a:srgbClr val="999999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 flipV="1">
            <a:off x="2468880" y="3200400"/>
            <a:ext cx="2093976" cy="114300"/>
          </a:xfrm>
          <a:prstGeom prst="line">
            <a:avLst/>
          </a:prstGeom>
          <a:noFill/>
          <a:ln w="19050">
            <a:solidFill>
              <a:srgbClr val="999999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5669280" y="2286000"/>
            <a:ext cx="274320" cy="1435608"/>
          </a:xfrm>
          <a:prstGeom prst="line">
            <a:avLst/>
          </a:prstGeom>
          <a:noFill/>
          <a:ln w="19050">
            <a:solidFill>
              <a:srgbClr val="999999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457200" y="489204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F8C8D"/>
                </a:solidFill>
              </a:rPr>
              <a:t>Estruturação da Aplicação · Mu Torere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850392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F8C8D"/>
                </a:solidFill>
              </a:rPr>
              <a:t>8</a:t>
            </a:r>
            <a:endParaRPr lang="en-US" sz="800" dirty="0"/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DE15826A-AD86-10BA-A1AF-709B3B8C99E8}"/>
              </a:ext>
            </a:extLst>
          </p:cNvPr>
          <p:cNvSpPr/>
          <p:nvPr/>
        </p:nvSpPr>
        <p:spPr>
          <a:xfrm flipV="1">
            <a:off x="3335983" y="1847087"/>
            <a:ext cx="1226870" cy="256032"/>
          </a:xfrm>
          <a:prstGeom prst="line">
            <a:avLst/>
          </a:prstGeom>
          <a:noFill/>
          <a:ln w="19050">
            <a:solidFill>
              <a:srgbClr val="999999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91BB59D9-9838-9AD8-36CE-5D2396E9F4F0}"/>
              </a:ext>
            </a:extLst>
          </p:cNvPr>
          <p:cNvSpPr/>
          <p:nvPr/>
        </p:nvSpPr>
        <p:spPr>
          <a:xfrm flipV="1">
            <a:off x="2468881" y="1865376"/>
            <a:ext cx="2093968" cy="1399032"/>
          </a:xfrm>
          <a:prstGeom prst="line">
            <a:avLst/>
          </a:prstGeom>
          <a:noFill/>
          <a:ln w="19050">
            <a:solidFill>
              <a:srgbClr val="999999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Fluxo: Envio de Jogada em Rede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80467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mensagens quando o Jogador 1 realiza uma jogada.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316736"/>
            <a:ext cx="384048" cy="384048"/>
          </a:xfrm>
          <a:prstGeom prst="ellipse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457200" y="1316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0120" y="1316736"/>
            <a:ext cx="1828800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960120" y="131673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(J1)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13258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Jogador 1 selecciona e confirma o movimento na interface.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9224" y="1700784"/>
            <a:ext cx="0" cy="201168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457200" y="1938528"/>
            <a:ext cx="384048" cy="384048"/>
          </a:xfrm>
          <a:prstGeom prst="ellipse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45720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60120" y="1938528"/>
            <a:ext cx="1828800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960120" y="193852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GameClient (J1)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926080" y="194767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GameClient serializa a Jogada e envia-a ao GameServer via TCP.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9224" y="2322576"/>
            <a:ext cx="0" cy="201168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560320"/>
            <a:ext cx="1828800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960120" y="2560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GameServer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926080" y="256946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recebe a Jogada, valida as regras e actualiza o GameState.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9224" y="2944368"/>
            <a:ext cx="0" cy="201168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457200" y="3182112"/>
            <a:ext cx="384048" cy="384048"/>
          </a:xfrm>
          <a:prstGeom prst="ellipse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/>
          <p:nvPr/>
        </p:nvSpPr>
        <p:spPr>
          <a:xfrm>
            <a:off x="4572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60120" y="3182112"/>
            <a:ext cx="1828800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960120" y="31821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GameServer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2926080" y="319125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Difunde o novo GameState a todos os GameClients ligados.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9224" y="3566160"/>
            <a:ext cx="0" cy="201168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457200" y="3803904"/>
            <a:ext cx="384048" cy="384048"/>
          </a:xfrm>
          <a:prstGeom prst="ellipse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457200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960120" y="3803904"/>
            <a:ext cx="1828800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960120" y="38039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GameClient (J1/J2)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926080" y="38130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GameClient notifica a GUI via NetworkListener.onStateUpdated().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9224" y="4187952"/>
            <a:ext cx="0" cy="201168"/>
          </a:xfrm>
          <a:prstGeom prst="line">
            <a:avLst/>
          </a:prstGeom>
          <a:noFill/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457200" y="4425696"/>
            <a:ext cx="384048" cy="384048"/>
          </a:xfrm>
          <a:prstGeom prst="ellipse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457200" y="442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960120" y="4425696"/>
            <a:ext cx="1828800" cy="384048"/>
          </a:xfrm>
          <a:prstGeom prst="rect">
            <a:avLst/>
          </a:prstGeom>
          <a:solidFill>
            <a:srgbClr val="EAF2FF"/>
          </a:solidFill>
          <a:ln w="12700">
            <a:solidFill>
              <a:srgbClr val="AED6F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960120" y="442569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(J1 e J2)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2926080" y="4434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as interfaces são redesenhadas com o novo estado do tabuleiro.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57200" y="489204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F8C8D"/>
                </a:solidFill>
              </a:rPr>
              <a:t>Estruturação da Aplicação · Mu Torere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8503920" y="48920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F8C8D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78E4B3-647F-44C0-7E7F-0CCE07DE5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050" y="846070"/>
            <a:ext cx="2575635" cy="1061453"/>
          </a:xfrm>
          <a:prstGeom prst="ellipse">
            <a:avLst/>
          </a:prstGeom>
        </p:spPr>
        <p:txBody>
          <a:bodyPr vert="horz" lIns="68580" tIns="34290" rIns="68580" bIns="34290" rtlCol="0" anchor="t">
            <a:normAutofit fontScale="90000"/>
          </a:bodyPr>
          <a:lstStyle/>
          <a:p>
            <a:r>
              <a:rPr lang="en-US" sz="2400" dirty="0"/>
              <a:t>Git e </a:t>
            </a:r>
            <a:r>
              <a:rPr lang="en-US" sz="2400" dirty="0" err="1"/>
              <a:t>Processo</a:t>
            </a:r>
            <a:endParaRPr lang="en-US" sz="2400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A239BC0-B769-E57A-4444-1DB0072CDCE4}"/>
              </a:ext>
            </a:extLst>
          </p:cNvPr>
          <p:cNvSpPr txBox="1"/>
          <p:nvPr/>
        </p:nvSpPr>
        <p:spPr>
          <a:xfrm>
            <a:off x="6115050" y="1907524"/>
            <a:ext cx="2575635" cy="2699264"/>
          </a:xfrm>
          <a:prstGeom prst="rect">
            <a:avLst/>
          </a:prstGeom>
        </p:spPr>
        <p:txBody>
          <a:bodyPr rot="0" spcFirstLastPara="0" vertOverflow="overflow" horzOverflow="overflow" vert="horz" lIns="68580" tIns="34290" rIns="68580" bIns="3429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marL="171450" indent="-171450">
              <a:lnSpc>
                <a:spcPct val="9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Cada </a:t>
            </a:r>
            <a:r>
              <a:rPr lang="en-US" sz="1500" dirty="0" err="1"/>
              <a:t>membro</a:t>
            </a:r>
            <a:r>
              <a:rPr lang="en-US" sz="1500" dirty="0"/>
              <a:t> → 1 branch</a:t>
            </a:r>
          </a:p>
          <a:p>
            <a:pPr marL="171450" indent="-171450">
              <a:lnSpc>
                <a:spcPct val="9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Commits </a:t>
            </a:r>
            <a:r>
              <a:rPr lang="en-US" sz="1500" dirty="0" err="1"/>
              <a:t>individuais</a:t>
            </a:r>
            <a:endParaRPr lang="en-US" sz="1500" dirty="0"/>
          </a:p>
          <a:p>
            <a:pPr marL="171450" indent="-171450">
              <a:lnSpc>
                <a:spcPct val="9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500" dirty="0"/>
              <a:t>Merge final</a:t>
            </a:r>
          </a:p>
          <a:p>
            <a:pPr indent="-171450">
              <a:lnSpc>
                <a:spcPct val="9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endParaRPr lang="en-US" sz="1500" dirty="0"/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6975B6D4-B0BB-2CAB-5A76-D611C883D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9211DBE-62A7-0B2D-D464-CD6ADB2A4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15" y="747911"/>
            <a:ext cx="5546214" cy="3647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456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41148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029200" y="640080"/>
            <a:ext cx="4114800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0292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2578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4864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7150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59436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1722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008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6294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8580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0866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3152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5438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7724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0010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2296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4582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6868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8915400" y="73152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5029200" y="1280160"/>
            <a:ext cx="41148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029200" y="1920240"/>
            <a:ext cx="4114800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029200" y="2560320"/>
            <a:ext cx="41148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0292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2578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4864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7150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9436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1722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4008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6294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8580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70866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73152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75438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77724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80010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82296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4582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6868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8915400" y="2651760"/>
            <a:ext cx="109728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5029200" y="3200400"/>
            <a:ext cx="4114800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5029200" y="3840480"/>
            <a:ext cx="41148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5029200" y="4480560"/>
            <a:ext cx="4114800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50292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52578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4864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7150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9436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61722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64008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66294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68580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70866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3152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438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77724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80010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82296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84582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86868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8915400" y="4572000"/>
            <a:ext cx="109728" cy="4114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457200" y="1005840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600" dirty="0"/>
          </a:p>
        </p:txBody>
      </p:sp>
      <p:sp>
        <p:nvSpPr>
          <p:cNvPr id="65" name="Shape 63"/>
          <p:cNvSpPr/>
          <p:nvPr/>
        </p:nvSpPr>
        <p:spPr>
          <a:xfrm>
            <a:off x="457200" y="1783080"/>
            <a:ext cx="54864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4"/>
          <p:cNvSpPr/>
          <p:nvPr/>
        </p:nvSpPr>
        <p:spPr>
          <a:xfrm>
            <a:off x="658368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pacotes com responsabilidades claramente separadas (SRP)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457200" y="2496312"/>
            <a:ext cx="54864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6"/>
          <p:cNvSpPr/>
          <p:nvPr/>
        </p:nvSpPr>
        <p:spPr>
          <a:xfrm>
            <a:off x="658368" y="24963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TCP/IP robusta com reconexão automática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457200" y="3209544"/>
            <a:ext cx="54864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8"/>
          <p:cNvSpPr/>
          <p:nvPr/>
        </p:nvSpPr>
        <p:spPr>
          <a:xfrm>
            <a:off x="658368" y="32095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serializável permite jogo em rede e persistência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457200" y="3922776"/>
            <a:ext cx="54864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Text 70"/>
          <p:cNvSpPr/>
          <p:nvPr/>
        </p:nvSpPr>
        <p:spPr>
          <a:xfrm>
            <a:off x="658368" y="392277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extensível e testável de forma independente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457200" y="475488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Ldp · André Freitas · 33782</a:t>
            </a:r>
            <a:endParaRPr lang="en-US" sz="1100" dirty="0"/>
          </a:p>
        </p:txBody>
      </p:sp>
      <p:pic>
        <p:nvPicPr>
          <p:cNvPr id="7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956048"/>
            <a:ext cx="9144000" cy="1645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791</Words>
  <Application>Microsoft Office PowerPoint</Application>
  <PresentationFormat>Apresentação no Ecrã (16:9)</PresentationFormat>
  <Paragraphs>145</Paragraphs>
  <Slides>11</Slides>
  <Notes>10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Git e Processo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Estruturação da Aplicação Mu Torere</dc:title>
  <dc:subject>PptxGenJS Presentation</dc:subject>
  <dc:creator>PptxGenJS</dc:creator>
  <cp:lastModifiedBy>André Freitas</cp:lastModifiedBy>
  <cp:revision>2</cp:revision>
  <dcterms:created xsi:type="dcterms:W3CDTF">2026-04-13T20:37:23Z</dcterms:created>
  <dcterms:modified xsi:type="dcterms:W3CDTF">2026-04-13T20:51:35Z</dcterms:modified>
</cp:coreProperties>
</file>